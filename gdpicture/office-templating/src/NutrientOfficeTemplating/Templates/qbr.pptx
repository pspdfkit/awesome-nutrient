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0" name="Cover"/>
          <p:cNvSpPr txBox="1"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5000" b="1" dirty="0">
                <a:solidFill>
                  <a:srgbClr val="1A1414"/>
                </a:solidFill>
                <a:latin typeface="Archivo"/>
              </a:rPr>
              <a:t>{{quarter}} business review</a:t>
            </a:r>
          </a:p>
          <a:p>
            <a:pPr algn="l">
              <a:spcBef>
                <a:spcPts val="600"/>
              </a:spcBef>
            </a:pPr>
            <a:r>
              <a:rPr lang="en-US" sz="2000" dirty="0">
                <a:solidFill>
                  <a:srgbClr val="67594B"/>
                </a:solidFill>
                <a:latin typeface="Archivo"/>
              </a:rPr>
              <a:t>{{team.name}}</a:t>
            </a:r>
          </a:p>
        </p:txBody>
      </p:sp>
      <p:sp>
        <p:nvSpPr>
          <p:cNvPr id="2619" name="Meta"/>
          <p:cNvSpPr txBox="1"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400" b="1" dirty="0">
                <a:solidFill>
                  <a:srgbClr val="1A1414"/>
                </a:solidFill>
                <a:latin typeface="Archivo"/>
              </a:rPr>
              <a:t>{{presenter}}</a:t>
            </a:r>
            <a:r>
              <a:rPr lang="en-US" sz="1400" dirty="0">
                <a:solidFill>
                  <a:srgbClr val="67594B"/>
                </a:solidFill>
                <a:latin typeface="Archivo"/>
              </a:rPr>
              <a:t>   ·   </a:t>
            </a:r>
            <a:r>
              <a:rPr lang="en-US" sz="1400" dirty="0">
                <a:solidFill>
                  <a:srgbClr val="67594B"/>
                </a:solidFill>
                <a:latin typeface="Archivo"/>
              </a:rPr>
              <a:t>{{reviewDate}}</a:t>
            </a:r>
            <a:r>
              <a:rPr lang="en-US" sz="1400" dirty="0">
                <a:solidFill>
                  <a:srgbClr val="67594B"/>
                </a:solidFill>
                <a:latin typeface="Archivo"/>
              </a:rPr>
              <a:t>   ·   Data as of {{dataAsOf}}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Eyebrow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EXECUTIVE SUMMARY</a:t>
            </a:r>
          </a:p>
        </p:txBody>
      </p:sp>
      <p:sp>
        <p:nvSpPr>
          <p:cNvPr id="3298" name="Title"/>
          <p:cNvSpPr txBox="1"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600" b="1" dirty="0">
                <a:solidFill>
                  <a:srgbClr val="1A1414"/>
                </a:solidFill>
                <a:latin typeface="Archivo"/>
              </a:rPr>
              <a:t>{{summary.headline}}</a:t>
            </a:r>
          </a:p>
        </p:txBody>
      </p:sp>
      <p:sp>
        <p:nvSpPr>
          <p:cNvPr id="4628" name="Summary"/>
          <p:cNvSpPr txBox="1"/>
          <p:nvPr/>
        </p:nvSpPr>
        <p:spPr>
          <a:xfrm>
            <a:off x="822960" y="2286000"/>
            <a:ext cx="10515600" cy="3108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700" dirty="0">
                <a:solidFill>
                  <a:srgbClr val="1A1414"/>
                </a:solidFill>
                <a:latin typeface="Archivo"/>
              </a:rPr>
              <a:t>{{summary.performance}}</a:t>
            </a:r>
          </a:p>
          <a:p>
            <a:pPr algn="l">
              <a:spcBef>
                <a:spcPts val="500"/>
              </a:spcBef>
            </a:pPr>
            <a:r>
              <a:rPr lang="en-US" sz="1600" dirty="0">
                <a:solidFill>
                  <a:srgbClr val="67594B"/>
                </a:solidFill>
                <a:latin typeface="Archivo"/>
              </a:rPr>
              <a:t>{{summary.insight}}</a:t>
            </a:r>
          </a:p>
          <a:p>
            <a:pPr algn="l">
              <a:spcBef>
                <a:spcPts val="0"/>
              </a:spcBef>
            </a:pPr>
            <a:r>
              <a:rPr lang="en-US" sz="1600" b="1" dirty="0">
                <a:solidFill>
                  <a:srgbClr val="F25E45"/>
                </a:solidFill>
                <a:latin typeface="Archivo"/>
              </a:rPr>
              <a:t>The ask:  </a:t>
            </a:r>
            <a:r>
              <a:rPr lang="en-US" sz="1600" dirty="0">
                <a:solidFill>
                  <a:srgbClr val="1A1414"/>
                </a:solidFill>
                <a:latin typeface="Archivo"/>
              </a:rPr>
              <a:t>{{summary.ask}}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Eyebrow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SCORECARD</a:t>
            </a:r>
          </a:p>
        </p:txBody>
      </p:sp>
      <p:sp>
        <p:nvSpPr>
          <p:cNvPr id="3298" name="Title"/>
          <p:cNvSpPr txBox="1"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600" b="1" dirty="0">
                <a:solidFill>
                  <a:srgbClr val="1A1414"/>
                </a:solidFill>
                <a:latin typeface="Archivo"/>
              </a:rPr>
              <a:t>Against plan</a:t>
            </a:r>
          </a:p>
        </p:txBody>
      </p:sp>
      <p:sp>
        <p:nvSpPr>
          <p:cNvPr id="963" name="Scorecard"/>
          <p:cNvSpPr txBox="1"/>
          <p:nvPr/>
        </p:nvSpPr>
        <p:spPr>
          <a:xfrm>
            <a:off x="822960" y="2194560"/>
            <a:ext cx="10515600" cy="3474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100" b="1" dirty="0">
                <a:solidFill>
                  <a:srgbClr val="67594B"/>
                </a:solidFill>
                <a:latin typeface="Archivo"/>
              </a:rPr>
              <a:t>METRIC</a:t>
            </a:r>
            <a:r>
              <a:rPr lang="en-US" sz="1100" b="1" dirty="0">
                <a:solidFill>
                  <a:srgbClr val="67594B"/>
                </a:solidFill>
                <a:latin typeface="Archivo"/>
              </a:rPr>
              <a:t>          PLAN          ACTUAL          VAR          STATUS</a:t>
            </a:r>
          </a:p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{{#scorecard}}</a:t>
            </a:r>
          </a:p>
          <a:p>
            <a:pPr algn="l">
              <a:spcBef>
                <a:spcPts val="0"/>
              </a:spcBef>
            </a:pPr>
            <a:r>
              <a:rPr lang="en-US" sz="1500" b="1" dirty="0">
                <a:solidFill>
                  <a:srgbClr val="1A1414"/>
                </a:solidFill>
                <a:latin typeface="Archivo"/>
              </a:rPr>
              <a:t>{{metric}}</a:t>
            </a:r>
            <a:r>
              <a:rPr lang="en-US" sz="1400" dirty="0">
                <a:solidFill>
                  <a:srgbClr val="67594B"/>
                </a:solidFill>
                <a:latin typeface="Archivo"/>
              </a:rPr>
              <a:t>     plan {{plan}}</a:t>
            </a:r>
            <a:r>
              <a:rPr lang="en-US" sz="1400" dirty="0">
                <a:solidFill>
                  <a:srgbClr val="1A1414"/>
                </a:solidFill>
                <a:latin typeface="Archivo"/>
              </a:rPr>
              <a:t>     actual {{actual}}</a:t>
            </a:r>
            <a:r>
              <a:rPr lang="en-US" sz="1400" b="1" dirty="0">
                <a:solidFill>
                  <a:srgbClr val="1A1414"/>
                </a:solidFill>
                <a:latin typeface="Archivo"/>
              </a:rPr>
              <a:t>     {{variance}}</a:t>
            </a:r>
            <a:r>
              <a:rPr lang="en-US" sz="1400" dirty="0">
                <a:solidFill>
                  <a:srgbClr val="F25E45"/>
                </a:solidFill>
                <a:latin typeface="Archivo"/>
              </a:rPr>
              <a:t>     {{status}}</a:t>
            </a:r>
          </a:p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{{/scorecard}}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Eyebrow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REVENUE</a:t>
            </a:r>
          </a:p>
        </p:txBody>
      </p:sp>
      <p:sp>
        <p:nvSpPr>
          <p:cNvPr id="3298" name="Title"/>
          <p:cNvSpPr txBox="1"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600" b="1" dirty="0">
                <a:solidFill>
                  <a:srgbClr val="1A1414"/>
                </a:solidFill>
                <a:latin typeface="Archivo"/>
              </a:rPr>
              <a:t>{{arr.headline}}</a:t>
            </a:r>
          </a:p>
        </p:txBody>
      </p:sp>
      <p:sp>
        <p:nvSpPr>
          <p:cNvPr id="7043" name="Bridge"/>
          <p:cNvSpPr txBox="1"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{{#arr.bridge}}</a:t>
            </a:r>
          </a:p>
          <a:p>
            <a:pPr algn="l">
              <a:spcBef>
                <a:spcPts val="0"/>
              </a:spcBef>
            </a:pPr>
            <a:r>
              <a:rPr lang="en-US" sz="1600" dirty="0">
                <a:solidFill>
                  <a:srgbClr val="67594B"/>
                </a:solidFill>
                <a:latin typeface="Archivo"/>
              </a:rPr>
              <a:t>{{label}}</a:t>
            </a:r>
            <a:r>
              <a:rPr lang="en-US" sz="1800" b="1" dirty="0">
                <a:solidFill>
                  <a:srgbClr val="1A1414"/>
                </a:solidFill>
                <a:latin typeface="Archivo"/>
              </a:rPr>
              <a:t>     {{value}}</a:t>
            </a:r>
          </a:p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{{/arr.bridge}}</a:t>
            </a:r>
          </a:p>
          <a:p>
            <a:endParaRPr lang="en-US"/>
          </a:p>
        </p:txBody>
      </p:sp>
      <p:sp>
        <p:nvSpPr>
          <p:cNvPr id="1166" name="Retention"/>
          <p:cNvSpPr txBox="1"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800" b="1" dirty="0">
                <a:solidFill>
                  <a:srgbClr val="F25E45"/>
                </a:solidFill>
                <a:latin typeface="Archivo"/>
              </a:rPr>
              <a:t>NRR {{arr.nrr}}</a:t>
            </a:r>
            <a:r>
              <a:rPr lang="en-US" sz="1800" b="1" dirty="0">
                <a:solidFill>
                  <a:srgbClr val="1A1414"/>
                </a:solidFill>
                <a:latin typeface="Archivo"/>
              </a:rPr>
              <a:t>      GRR {{arr.grr}}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Eyebrow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WHAT WORKED, WHAT DIDN'T</a:t>
            </a:r>
          </a:p>
        </p:txBody>
      </p:sp>
      <p:sp>
        <p:nvSpPr>
          <p:cNvPr id="3298" name="Title"/>
          <p:cNvSpPr txBox="1"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600" b="1" dirty="0">
                <a:solidFill>
                  <a:srgbClr val="1A1414"/>
                </a:solidFill>
                <a:latin typeface="Archivo"/>
              </a:rPr>
              <a:t>{{outcomes.headline}}</a:t>
            </a:r>
          </a:p>
        </p:txBody>
      </p:sp>
      <p:sp>
        <p:nvSpPr>
          <p:cNvPr id="7441" name="Wins"/>
          <p:cNvSpPr txBox="1"/>
          <p:nvPr/>
        </p:nvSpPr>
        <p:spPr>
          <a:xfrm>
            <a:off x="822960" y="2286000"/>
            <a:ext cx="4937760" cy="3108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500" b="1" dirty="0">
                <a:solidFill>
                  <a:srgbClr val="3C7645"/>
                </a:solidFill>
                <a:latin typeface="Archivo"/>
              </a:rPr>
              <a:t>Wins</a:t>
            </a:r>
          </a:p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{{#outcomes.wins}}</a:t>
            </a:r>
          </a:p>
          <a:p>
            <a:pPr algn="l">
              <a:spcBef>
                <a:spcPts val="0"/>
              </a:spcBef>
            </a:pPr>
            <a:r>
              <a:rPr lang="en-US" sz="1500" b="1" dirty="0">
                <a:solidFill>
                  <a:srgbClr val="1A1414"/>
                </a:solidFill>
                <a:latin typeface="Archivo"/>
              </a:rPr>
              <a:t>{{result}}</a:t>
            </a:r>
          </a:p>
          <a:p>
            <a:pPr algn="l">
              <a:spcBef>
                <a:spcPts val="0"/>
              </a:spcBef>
            </a:pPr>
            <a:r>
              <a:rPr lang="en-US" sz="1300" dirty="0">
                <a:solidFill>
                  <a:srgbClr val="67594B"/>
                </a:solidFill>
                <a:latin typeface="Archivo"/>
              </a:rPr>
              <a:t>{{driver}}</a:t>
            </a:r>
          </a:p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{{/outcomes.wins}}</a:t>
            </a:r>
          </a:p>
          <a:p>
            <a:endParaRPr lang="en-US"/>
          </a:p>
        </p:txBody>
      </p:sp>
      <p:sp>
        <p:nvSpPr>
          <p:cNvPr id="5525" name="Misses"/>
          <p:cNvSpPr txBox="1"/>
          <p:nvPr/>
        </p:nvSpPr>
        <p:spPr>
          <a:xfrm>
            <a:off x="6035040" y="2286000"/>
            <a:ext cx="4937760" cy="3108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500" b="1" dirty="0">
                <a:solidFill>
                  <a:srgbClr val="F25E45"/>
                </a:solidFill>
                <a:latin typeface="Archivo"/>
              </a:rPr>
              <a:t>Misses</a:t>
            </a:r>
          </a:p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{{#outcomes.misses}}</a:t>
            </a:r>
          </a:p>
          <a:p>
            <a:pPr algn="l">
              <a:spcBef>
                <a:spcPts val="0"/>
              </a:spcBef>
            </a:pPr>
            <a:r>
              <a:rPr lang="en-US" sz="1500" b="1" dirty="0">
                <a:solidFill>
                  <a:srgbClr val="1A1414"/>
                </a:solidFill>
                <a:latin typeface="Archivo"/>
              </a:rPr>
              <a:t>{{result}}</a:t>
            </a:r>
          </a:p>
          <a:p>
            <a:pPr algn="l">
              <a:spcBef>
                <a:spcPts val="0"/>
              </a:spcBef>
            </a:pPr>
            <a:r>
              <a:rPr lang="en-US" sz="1300" dirty="0">
                <a:solidFill>
                  <a:srgbClr val="67594B"/>
                </a:solidFill>
                <a:latin typeface="Archivo"/>
              </a:rPr>
              <a:t>{{rootCause}}</a:t>
            </a:r>
          </a:p>
          <a:p>
            <a:pPr algn="l">
              <a:spcBef>
                <a:spcPts val="0"/>
              </a:spcBef>
            </a:pPr>
            <a:r>
              <a:rPr lang="en-US" sz="1300" dirty="0">
                <a:solidFill>
                  <a:srgbClr val="67594B"/>
                </a:solidFill>
                <a:latin typeface="Archivo"/>
              </a:rPr>
              <a:t>{{correctiveAction}}</a:t>
            </a:r>
          </a:p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{{/outcomes.misses}}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Eyebrow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PIPELINE</a:t>
            </a:r>
          </a:p>
        </p:txBody>
      </p:sp>
      <p:sp>
        <p:nvSpPr>
          <p:cNvPr id="3298" name="Title"/>
          <p:cNvSpPr txBox="1"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600" b="1" dirty="0">
                <a:solidFill>
                  <a:srgbClr val="1A1414"/>
                </a:solidFill>
                <a:latin typeface="Archivo"/>
              </a:rPr>
              <a:t>{{pipeline.headline}}</a:t>
            </a:r>
          </a:p>
        </p:txBody>
      </p:sp>
      <p:sp>
        <p:nvSpPr>
          <p:cNvPr id="7973" name="Coverage"/>
          <p:cNvSpPr txBox="1"/>
          <p:nvPr/>
        </p:nvSpPr>
        <p:spPr>
          <a:xfrm>
            <a:off x="822960" y="2194560"/>
            <a:ext cx="10515600" cy="3291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{{#pipeline.segments}}</a:t>
            </a:r>
          </a:p>
          <a:p>
            <a:pPr algn="l">
              <a:spcBef>
                <a:spcPts val="0"/>
              </a:spcBef>
            </a:pPr>
            <a:r>
              <a:rPr lang="en-US" sz="1500" b="1" dirty="0">
                <a:solidFill>
                  <a:srgbClr val="1A1414"/>
                </a:solidFill>
                <a:latin typeface="Archivo"/>
              </a:rPr>
              <a:t>{{segment}}</a:t>
            </a:r>
            <a:r>
              <a:rPr lang="en-US" sz="1400" dirty="0">
                <a:solidFill>
                  <a:srgbClr val="67594B"/>
                </a:solidFill>
                <a:latin typeface="Archivo"/>
              </a:rPr>
              <a:t>     quota {{quota}}</a:t>
            </a:r>
            <a:r>
              <a:rPr lang="en-US" sz="1400" dirty="0">
                <a:solidFill>
                  <a:srgbClr val="1A1414"/>
                </a:solidFill>
                <a:latin typeface="Archivo"/>
              </a:rPr>
              <a:t>     open {{openPipeline}}</a:t>
            </a:r>
            <a:r>
              <a:rPr lang="en-US" sz="1400" b="1" dirty="0">
                <a:solidFill>
                  <a:srgbClr val="F25E45"/>
                </a:solidFill>
                <a:latin typeface="Archivo"/>
              </a:rPr>
              <a:t>     coverage {{coverage}}</a:t>
            </a:r>
          </a:p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{{/pipeline.segments}}</a:t>
            </a:r>
          </a:p>
          <a:p>
            <a:endParaRPr lang="en-US"/>
          </a:p>
        </p:txBody>
      </p:sp>
      <p:sp>
        <p:nvSpPr>
          <p:cNvPr id="3485" name="Note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300" dirty="0">
                <a:solidFill>
                  <a:srgbClr val="67594B"/>
                </a:solidFill>
                <a:latin typeface="Archivo"/>
              </a:rPr>
              <a:t>{{pipeline.note}}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Eyebrow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RISKS</a:t>
            </a:r>
          </a:p>
        </p:txBody>
      </p:sp>
      <p:sp>
        <p:nvSpPr>
          <p:cNvPr id="3298" name="Title"/>
          <p:cNvSpPr txBox="1"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600" b="1" dirty="0">
                <a:solidFill>
                  <a:srgbClr val="1A1414"/>
                </a:solidFill>
                <a:latin typeface="Archivo"/>
              </a:rPr>
              <a:t>{{risks.headline}}</a:t>
            </a:r>
          </a:p>
        </p:txBody>
      </p:sp>
      <p:sp>
        <p:nvSpPr>
          <p:cNvPr id="1650" name="Risks"/>
          <p:cNvSpPr txBox="1"/>
          <p:nvPr/>
        </p:nvSpPr>
        <p:spPr>
          <a:xfrm>
            <a:off x="822960" y="2194560"/>
            <a:ext cx="10515600" cy="3291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{{#risks.items}}</a:t>
            </a:r>
          </a:p>
          <a:p>
            <a:pPr algn="l">
              <a:spcBef>
                <a:spcPts val="0"/>
              </a:spcBef>
            </a:pPr>
            <a:r>
              <a:rPr lang="en-US" sz="1500" b="1" dirty="0">
                <a:solidFill>
                  <a:srgbClr val="1A1414"/>
                </a:solidFill>
                <a:latin typeface="Archivo"/>
              </a:rPr>
              <a:t>{{risk}}</a:t>
            </a:r>
            <a:r>
              <a:rPr lang="en-US" sz="1300" dirty="0">
                <a:solidFill>
                  <a:srgbClr val="87640D"/>
                </a:solidFill>
                <a:latin typeface="Archivo"/>
              </a:rPr>
              <a:t>     {{severity}}</a:t>
            </a:r>
          </a:p>
          <a:p>
            <a:pPr algn="l">
              <a:spcBef>
                <a:spcPts val="0"/>
              </a:spcBef>
            </a:pPr>
            <a:r>
              <a:rPr lang="en-US" sz="1300" dirty="0">
                <a:solidFill>
                  <a:srgbClr val="67594B"/>
                </a:solidFill>
                <a:latin typeface="Archivo"/>
              </a:rPr>
              <a:t>{{mitigation}}</a:t>
            </a:r>
          </a:p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{{/risks.items}}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Eyebrow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NEXT QUARTER</a:t>
            </a:r>
          </a:p>
        </p:txBody>
      </p:sp>
      <p:sp>
        <p:nvSpPr>
          <p:cNvPr id="3298" name="Title"/>
          <p:cNvSpPr txBox="1"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600" b="1" dirty="0">
                <a:solidFill>
                  <a:srgbClr val="1A1414"/>
                </a:solidFill>
                <a:latin typeface="Archivo"/>
              </a:rPr>
              <a:t>{{nextQuarter.headline}}</a:t>
            </a:r>
          </a:p>
        </p:txBody>
      </p:sp>
      <p:sp>
        <p:nvSpPr>
          <p:cNvPr id="397" name="Priorities"/>
          <p:cNvSpPr txBox="1"/>
          <p:nvPr/>
        </p:nvSpPr>
        <p:spPr>
          <a:xfrm>
            <a:off x="822960" y="2194560"/>
            <a:ext cx="10515600" cy="3291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{{#nextQuarter.priorities}}</a:t>
            </a:r>
          </a:p>
          <a:p>
            <a:pPr algn="l">
              <a:spcBef>
                <a:spcPts val="0"/>
              </a:spcBef>
            </a:pPr>
            <a:r>
              <a:rPr lang="en-US" sz="1600" b="1" dirty="0">
                <a:solidFill>
                  <a:srgbClr val="1A1414"/>
                </a:solidFill>
                <a:latin typeface="Archivo"/>
              </a:rPr>
              <a:t>{{priority}}</a:t>
            </a:r>
            <a:r>
              <a:rPr lang="en-US" sz="1400" dirty="0">
                <a:solidFill>
                  <a:srgbClr val="67594B"/>
                </a:solidFill>
                <a:latin typeface="Archivo"/>
              </a:rPr>
              <a:t>     {{owner}}</a:t>
            </a:r>
            <a:r>
              <a:rPr lang="en-US" sz="1400" dirty="0">
                <a:solidFill>
                  <a:srgbClr val="F25E45"/>
                </a:solidFill>
                <a:latin typeface="Archivo"/>
              </a:rPr>
              <a:t>     {{measure}}</a:t>
            </a:r>
          </a:p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{{/nextQuarter.priorities}}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Eyebrow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200" dirty="0">
                <a:solidFill>
                  <a:srgbClr val="67594B"/>
                </a:solidFill>
                <a:latin typeface="Archivo"/>
              </a:rPr>
              <a:t>DECISIONS REQUIRED</a:t>
            </a:r>
          </a:p>
        </p:txBody>
      </p:sp>
      <p:sp>
        <p:nvSpPr>
          <p:cNvPr id="3298" name="Title"/>
          <p:cNvSpPr txBox="1"/>
          <p:nvPr/>
        </p:nvSpPr>
        <p:spPr>
          <a:xfrm>
            <a:off x="822960" y="1051560"/>
            <a:ext cx="10515600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3600" b="1" dirty="0">
                <a:solidFill>
                  <a:srgbClr val="1A1414"/>
                </a:solidFill>
                <a:latin typeface="Archivo"/>
              </a:rPr>
              <a:t>{{decisions.headline}}</a:t>
            </a:r>
          </a:p>
        </p:txBody>
      </p:sp>
      <p:sp>
        <p:nvSpPr>
          <p:cNvPr id="4985" name="Decisions"/>
          <p:cNvSpPr txBox="1"/>
          <p:nvPr/>
        </p:nvSpPr>
        <p:spPr>
          <a:xfrm>
            <a:off x="822960" y="2194560"/>
            <a:ext cx="10515600" cy="3291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{{#decisions.items}}</a:t>
            </a:r>
          </a:p>
          <a:p>
            <a:pPr algn="l">
              <a:spcBef>
                <a:spcPts val="0"/>
              </a:spcBef>
            </a:pPr>
            <a:r>
              <a:rPr lang="en-US" sz="1600" b="1" dirty="0">
                <a:solidFill>
                  <a:srgbClr val="1A1414"/>
                </a:solidFill>
                <a:latin typeface="Archivo"/>
              </a:rPr>
              <a:t>{{decision}}</a:t>
            </a:r>
            <a:r>
              <a:rPr lang="en-US" sz="1400" dirty="0">
                <a:solidFill>
                  <a:srgbClr val="F25E45"/>
                </a:solidFill>
                <a:latin typeface="Archivo"/>
              </a:rPr>
              <a:t>     {{costOfDelay}}</a:t>
            </a:r>
          </a:p>
          <a:p>
            <a:pPr algn="l">
              <a:spcBef>
                <a:spcPts val="0"/>
              </a:spcBef>
            </a:pPr>
            <a:r>
              <a:rPr lang="en-US" sz="1300" dirty="0">
                <a:solidFill>
                  <a:srgbClr val="67594B"/>
                </a:solidFill>
                <a:latin typeface="Archivo"/>
              </a:rPr>
              <a:t>recommend: {{recommendation}}</a:t>
            </a:r>
            <a:r>
              <a:rPr lang="en-US" sz="1300" dirty="0">
                <a:solidFill>
                  <a:srgbClr val="67594B"/>
                </a:solidFill>
                <a:latin typeface="Archivo"/>
              </a:rPr>
              <a:t>     {{owner}} by {{deadline}}</a:t>
            </a:r>
          </a:p>
          <a:p>
            <a:pPr algn="l">
              <a:spcBef>
                <a:spcPts val="0"/>
              </a:spcBef>
            </a:pPr>
            <a:r>
              <a:rPr lang="en-US" sz="1000" dirty="0">
                <a:solidFill>
                  <a:srgbClr val="67594B"/>
                </a:solidFill>
                <a:latin typeface="Archivo"/>
              </a:rPr>
              <a:t>{{/decisions.items}}</a:t>
            </a:r>
          </a:p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utrient">
  <a:themeElements>
    <a:clrScheme name="Nutrient">
      <a:dk1>
        <a:srgbClr val="1A1414"/>
      </a:dk1>
      <a:lt1>
        <a:srgbClr val="FFFFFF"/>
      </a:lt1>
      <a:dk2>
        <a:srgbClr val="67594B"/>
      </a:dk2>
      <a:lt2>
        <a:srgbClr val="EFEBE7"/>
      </a:lt2>
      <a:accent1>
        <a:srgbClr val="F25E45"/>
      </a:accent1>
      <a:accent2>
        <a:srgbClr val="DE9DCC"/>
      </a:accent2>
      <a:accent3>
        <a:srgbClr val="6EB579"/>
      </a:accent3>
      <a:accent4>
        <a:srgbClr val="F0C968"/>
      </a:accent4>
      <a:accent5>
        <a:srgbClr val="C2B8AE"/>
      </a:accent5>
      <a:accent6>
        <a:srgbClr val="67594B"/>
      </a:accent6>
      <a:hlink>
        <a:srgbClr val="F25E45"/>
      </a:hlink>
      <a:folHlink>
        <a:srgbClr val="67594B"/>
      </a:folHlink>
    </a:clrScheme>
    <a:fontScheme name="Nutrient">
      <a:majorFont>
        <a:latin typeface="Archivo"/>
        <a:ea typeface=""/>
        <a:cs typeface=""/>
      </a:majorFont>
      <a:minorFont>
        <a:latin typeface="Archivo"/>
        <a:ea typeface=""/>
        <a:cs typeface=""/>
      </a:minorFont>
    </a:fontScheme>
    <a:fmtScheme name="Nutrien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Quarterly Business Review Template</dc:title>
  <dc:creator>Nutrient Office Templating Demo</dc:creator>
</cp:coreProperties>
</file>