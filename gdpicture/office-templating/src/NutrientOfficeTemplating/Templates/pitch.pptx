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8" name="Cover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5400" b="1" dirty="0">
                <a:solidFill>
                  <a:srgbClr val="1A1414"/>
                </a:solidFill>
                <a:latin typeface="Archivo"/>
              </a:rPr>
              <a:t>{{company.name}}</a:t>
            </a:r>
          </a:p>
          <a:p>
            <a:pPr algn="l">
              <a:spcBef>
                <a:spcPts val="600"/>
              </a:spcBef>
            </a:pPr>
            <a:r>
              <a:rPr lang="en-US" sz="2000" dirty="0">
                <a:solidFill>
                  <a:srgbClr val="67594B"/>
                </a:solidFill>
                <a:latin typeface="Archivo"/>
              </a:rPr>
              <a:t>{{company.tagline}}</a:t>
            </a:r>
          </a:p>
        </p:txBody>
      </p:sp>
      <p:sp>
        <p:nvSpPr>
          <p:cNvPr id="1948" name="Meta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F25E45"/>
                </a:solidFill>
                <a:latin typeface="Archivo"/>
              </a:rPr>
              <a:t>{{company.stage}}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·   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{{company.location}}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·   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{{deckDate}}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THE PROBLEM</a:t>
            </a:r>
          </a:p>
        </p:txBody>
      </p:sp>
      <p:sp>
        <p:nvSpPr>
          <p:cNvPr id="7304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{{problem.headline}}</a:t>
            </a:r>
          </a:p>
        </p:txBody>
      </p:sp>
      <p:sp>
        <p:nvSpPr>
          <p:cNvPr id="7379" name="Lede"/>
          <p:cNvSpPr txBox="1"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dirty="0">
                <a:solidFill>
                  <a:srgbClr val="67594B"/>
                </a:solidFill>
                <a:latin typeface="Archivo"/>
              </a:rPr>
              <a:t>{{problem.summary}}</a:t>
            </a:r>
          </a:p>
        </p:txBody>
      </p:sp>
      <p:sp>
        <p:nvSpPr>
          <p:cNvPr id="491" name="Points"/>
          <p:cNvSpPr txBox="1"/>
          <p:nvPr/>
        </p:nvSpPr>
        <p:spPr>
          <a:xfrm>
            <a:off x="822960" y="3200400"/>
            <a:ext cx="10515600" cy="237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{{#problem.points}}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F25E45"/>
                </a:solidFill>
                <a:latin typeface="Archivo"/>
              </a:rPr>
              <a:t>•   </a:t>
            </a:r>
            <a:r>
              <a:rPr lang="en-US" sz="1600" dirty="0">
                <a:solidFill>
                  <a:srgbClr val="1A1414"/>
                </a:solidFill>
                <a:latin typeface="Archivo"/>
              </a:rPr>
              <a:t>{{text}}</a:t>
            </a:r>
          </a:p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{{/problem.points}}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THE SOLUTION</a:t>
            </a:r>
          </a:p>
        </p:txBody>
      </p:sp>
      <p:sp>
        <p:nvSpPr>
          <p:cNvPr id="7304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{{solution.headline}}</a:t>
            </a:r>
          </a:p>
        </p:txBody>
      </p:sp>
      <p:sp>
        <p:nvSpPr>
          <p:cNvPr id="7379" name="Lede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dirty="0">
                <a:solidFill>
                  <a:srgbClr val="67594B"/>
                </a:solidFill>
                <a:latin typeface="Archivo"/>
              </a:rPr>
              <a:t>{{solution.summary}}</a:t>
            </a:r>
          </a:p>
        </p:txBody>
      </p:sp>
      <p:sp>
        <p:nvSpPr>
          <p:cNvPr id="6097" name="Caps"/>
          <p:cNvSpPr txBox="1"/>
          <p:nvPr/>
        </p:nvSpPr>
        <p:spPr>
          <a:xfrm>
            <a:off x="822960" y="3291840"/>
            <a:ext cx="10515600" cy="219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{{#solution.capabilities}}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A1414"/>
                </a:solidFill>
                <a:latin typeface="Archivo"/>
              </a:rPr>
              <a:t>{{name}}</a:t>
            </a:r>
            <a:r>
              <a:rPr lang="en-US" sz="1600" dirty="0">
                <a:solidFill>
                  <a:srgbClr val="67594B"/>
                </a:solidFill>
                <a:latin typeface="Archivo"/>
              </a:rPr>
              <a:t>  —  </a:t>
            </a:r>
            <a:r>
              <a:rPr lang="en-US" sz="1600" dirty="0">
                <a:solidFill>
                  <a:srgbClr val="67594B"/>
                </a:solidFill>
                <a:latin typeface="Archivo"/>
              </a:rPr>
              <a:t>{{detail}}</a:t>
            </a:r>
          </a:p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{{/solution.capabilities}}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MARKET</a:t>
            </a:r>
          </a:p>
        </p:txBody>
      </p:sp>
      <p:sp>
        <p:nvSpPr>
          <p:cNvPr id="7304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{{market.headline}}</a:t>
            </a:r>
          </a:p>
        </p:txBody>
      </p:sp>
      <p:sp>
        <p:nvSpPr>
          <p:cNvPr id="3812" name="TAM"/>
          <p:cNvSpPr txBox="1"/>
          <p:nvPr/>
        </p:nvSpPr>
        <p:spPr>
          <a:xfrm>
            <a:off x="822960" y="2468880"/>
            <a:ext cx="3200400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rgbClr val="F25E45"/>
                </a:solidFill>
                <a:latin typeface="Archivo"/>
              </a:rPr>
              <a:t>{{market.tam}}</a:t>
            </a:r>
          </a:p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Total addressable</a:t>
            </a:r>
          </a:p>
        </p:txBody>
      </p:sp>
      <p:sp>
        <p:nvSpPr>
          <p:cNvPr id="7798" name="SAM"/>
          <p:cNvSpPr txBox="1"/>
          <p:nvPr/>
        </p:nvSpPr>
        <p:spPr>
          <a:xfrm>
            <a:off x="4206240" y="2468880"/>
            <a:ext cx="3200400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rgbClr val="1A1414"/>
                </a:solidFill>
                <a:latin typeface="Archivo"/>
              </a:rPr>
              <a:t>{{market.sam}}</a:t>
            </a:r>
          </a:p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Serviceable</a:t>
            </a:r>
          </a:p>
        </p:txBody>
      </p:sp>
      <p:sp>
        <p:nvSpPr>
          <p:cNvPr id="1249" name="Growth"/>
          <p:cNvSpPr txBox="1"/>
          <p:nvPr/>
        </p:nvSpPr>
        <p:spPr>
          <a:xfrm>
            <a:off x="7589520" y="2468880"/>
            <a:ext cx="3200400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rgbClr val="1A1414"/>
                </a:solidFill>
                <a:latin typeface="Archivo"/>
              </a:rPr>
              <a:t>{{market.growth}}</a:t>
            </a:r>
          </a:p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Annual growth</a:t>
            </a:r>
          </a:p>
        </p:txBody>
      </p:sp>
      <p:sp>
        <p:nvSpPr>
          <p:cNvPr id="4925" name="Note"/>
          <p:cNvSpPr txBox="1"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dirty="0">
                <a:solidFill>
                  <a:srgbClr val="67594B"/>
                </a:solidFill>
                <a:latin typeface="Archivo"/>
              </a:rPr>
              <a:t>{{market.note}}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TRACTION</a:t>
            </a:r>
          </a:p>
        </p:txBody>
      </p:sp>
      <p:sp>
        <p:nvSpPr>
          <p:cNvPr id="7304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{{traction.headline}}</a:t>
            </a:r>
          </a:p>
        </p:txBody>
      </p:sp>
      <p:sp>
        <p:nvSpPr>
          <p:cNvPr id="3338" name="Metrics"/>
          <p:cNvSpPr txBox="1"/>
          <p:nvPr/>
        </p:nvSpPr>
        <p:spPr>
          <a:xfrm>
            <a:off x="822960" y="2377440"/>
            <a:ext cx="1051560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{{#traction.metrics}}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25E45"/>
                </a:solidFill>
                <a:latin typeface="Archivo"/>
              </a:rPr>
              <a:t>{{value}}</a:t>
            </a:r>
            <a:r>
              <a:rPr lang="en-US" sz="1600" dirty="0">
                <a:solidFill>
                  <a:srgbClr val="67594B"/>
                </a:solidFill>
                <a:latin typeface="Archivo"/>
              </a:rPr>
              <a:t>   {{label}}</a:t>
            </a:r>
            <a:r>
              <a:rPr lang="en-US" sz="1400" dirty="0">
                <a:solidFill>
                  <a:srgbClr val="3C7645"/>
                </a:solidFill>
                <a:latin typeface="Archivo"/>
              </a:rPr>
              <a:t>   {{delta}}</a:t>
            </a:r>
          </a:p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{{/traction.metrics}}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MILESTONES</a:t>
            </a:r>
          </a:p>
        </p:txBody>
      </p:sp>
      <p:sp>
        <p:nvSpPr>
          <p:cNvPr id="7304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{{milestonesHeadline}}</a:t>
            </a:r>
          </a:p>
        </p:txBody>
      </p:sp>
      <p:sp>
        <p:nvSpPr>
          <p:cNvPr id="5421" name="Milestones"/>
          <p:cNvSpPr txBox="1"/>
          <p:nvPr/>
        </p:nvSpPr>
        <p:spPr>
          <a:xfrm>
            <a:off x="822960" y="228600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{{#milestones}}</a:t>
            </a:r>
          </a:p>
          <a:p>
            <a:pPr algn="l">
              <a:spcBef>
                <a:spcPts val="0"/>
              </a:spcBef>
            </a:pPr>
            <a:r>
              <a:rPr lang="en-US" sz="1300" b="1" dirty="0">
                <a:solidFill>
                  <a:srgbClr val="F25E45"/>
                </a:solidFill>
                <a:latin typeface="Archivo"/>
              </a:rPr>
              <a:t>{{quarter}}</a:t>
            </a:r>
            <a:r>
              <a:rPr lang="en-US" sz="1800" b="1" dirty="0">
                <a:solidFill>
                  <a:srgbClr val="1A1414"/>
                </a:solidFill>
                <a:latin typeface="Archivo"/>
              </a:rPr>
              <a:t>   {{title}}</a:t>
            </a:r>
          </a:p>
          <a:p>
            <a:pPr algn="l">
              <a:spcBef>
                <a:spcPts val="0"/>
              </a:spcBef>
            </a:pPr>
            <a:r>
              <a:rPr lang="en-US" sz="1500" dirty="0">
                <a:solidFill>
                  <a:srgbClr val="67594B"/>
                </a:solidFill>
                <a:latin typeface="Archivo"/>
              </a:rPr>
              <a:t>{{detail}}</a:t>
            </a:r>
          </a:p>
          <a:p>
            <a:pPr algn="l">
              <a:spcBef>
                <a:spcPts val="0"/>
              </a:spcBef>
            </a:pPr>
            <a:r>
              <a:rPr lang="en-US" sz="1300" b="1" dirty="0">
                <a:solidFill>
                  <a:srgbClr val="1A1414"/>
                </a:solidFill>
                <a:latin typeface="Archivo"/>
              </a:rPr>
              <a:t>{{status}}</a:t>
            </a:r>
            <a:r>
              <a:rPr lang="en-US" sz="1300" dirty="0">
                <a:solidFill>
                  <a:srgbClr val="67594B"/>
                </a:solidFill>
                <a:latin typeface="Archivo"/>
              </a:rPr>
              <a:t>   ·   {{owner}}</a:t>
            </a:r>
            <a:r>
              <a:rPr lang="en-US" sz="1300" dirty="0">
                <a:solidFill>
                  <a:srgbClr val="67594B"/>
                </a:solidFill>
                <a:latin typeface="Archivo"/>
              </a:rPr>
              <a:t>   ·   {{targetDate}}</a:t>
            </a:r>
          </a:p>
          <a:p>
            <a:endParaRPr lang="en-US"/>
          </a:p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{{/milestones}}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TEAM</a:t>
            </a:r>
          </a:p>
        </p:txBody>
      </p:sp>
      <p:sp>
        <p:nvSpPr>
          <p:cNvPr id="7304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{{team.headline}}</a:t>
            </a:r>
          </a:p>
        </p:txBody>
      </p:sp>
      <p:sp>
        <p:nvSpPr>
          <p:cNvPr id="7314" name="Members"/>
          <p:cNvSpPr txBox="1"/>
          <p:nvPr/>
        </p:nvSpPr>
        <p:spPr>
          <a:xfrm>
            <a:off x="822960" y="2377440"/>
            <a:ext cx="1051560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{{#team.members}}</a:t>
            </a:r>
          </a:p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1A1414"/>
                </a:solidFill>
                <a:latin typeface="Archivo"/>
              </a:rPr>
              <a:t>{{name}}</a:t>
            </a:r>
            <a:r>
              <a:rPr lang="en-US" sz="1800" dirty="0">
                <a:solidFill>
                  <a:srgbClr val="67594B"/>
                </a:solidFill>
                <a:latin typeface="Archivo"/>
              </a:rPr>
              <a:t>  ·  </a:t>
            </a:r>
            <a:r>
              <a:rPr lang="en-US" sz="1600" dirty="0">
                <a:solidFill>
                  <a:srgbClr val="F25E45"/>
                </a:solidFill>
                <a:latin typeface="Archivo"/>
              </a:rPr>
              <a:t>{{role}}</a:t>
            </a:r>
          </a:p>
          <a:p>
            <a:pPr algn="l">
              <a:spcBef>
                <a:spcPts val="0"/>
              </a:spcBef>
            </a:pPr>
            <a:r>
              <a:rPr lang="en-US" sz="1400" dirty="0">
                <a:solidFill>
                  <a:srgbClr val="67594B"/>
                </a:solidFill>
                <a:latin typeface="Archivo"/>
              </a:rPr>
              <a:t>{{background}}</a:t>
            </a:r>
          </a:p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{{/team.members}}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THE ASK</a:t>
            </a:r>
          </a:p>
        </p:txBody>
      </p:sp>
      <p:sp>
        <p:nvSpPr>
          <p:cNvPr id="7304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5400" b="1" dirty="0">
                <a:solidFill>
                  <a:srgbClr val="1A1414"/>
                </a:solidFill>
                <a:latin typeface="Archivo"/>
              </a:rPr>
              <a:t>{{ask.amount}}</a:t>
            </a:r>
          </a:p>
        </p:txBody>
      </p:sp>
      <p:sp>
        <p:nvSpPr>
          <p:cNvPr id="4497" name="Purpose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dirty="0">
                <a:solidFill>
                  <a:srgbClr val="67594B"/>
                </a:solidFill>
                <a:latin typeface="Archivo"/>
              </a:rPr>
              <a:t>{{ask.purpose}}</a:t>
            </a:r>
          </a:p>
        </p:txBody>
      </p:sp>
      <p:sp>
        <p:nvSpPr>
          <p:cNvPr id="7549" name="Uses"/>
          <p:cNvSpPr txBox="1"/>
          <p:nvPr/>
        </p:nvSpPr>
        <p:spPr>
          <a:xfrm>
            <a:off x="822960" y="3566160"/>
            <a:ext cx="10515600" cy="192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{{#ask.useOfFunds}}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F25E45"/>
                </a:solidFill>
                <a:latin typeface="Archivo"/>
              </a:rPr>
              <a:t>{{share}}</a:t>
            </a:r>
            <a:r>
              <a:rPr lang="en-US" sz="1600" dirty="0">
                <a:solidFill>
                  <a:srgbClr val="1A1414"/>
                </a:solidFill>
                <a:latin typeface="Archivo"/>
              </a:rPr>
              <a:t>   {{purpose}}</a:t>
            </a:r>
          </a:p>
          <a:p>
            <a:pPr algn="l">
              <a:spcBef>
                <a:spcPts val="0"/>
              </a:spcBef>
            </a:pPr>
            <a:r>
              <a:rPr lang="en-US" sz="1100" dirty="0">
                <a:solidFill>
                  <a:srgbClr val="67594B"/>
                </a:solidFill>
                <a:latin typeface="Archivo"/>
              </a:rPr>
              <a:t>{{/ask.useOfFunds}}</a:t>
            </a:r>
          </a:p>
          <a:p>
            <a:endParaRPr lang="en-US"/>
          </a:p>
        </p:txBody>
      </p:sp>
      <p:sp>
        <p:nvSpPr>
          <p:cNvPr id="7711" name="Contact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1A1414"/>
                </a:solidFill>
                <a:latin typeface="Archivo"/>
              </a:rPr>
              <a:t>{{company.contactName}}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·   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{{company.contactEmail}}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trient">
  <a:themeElements>
    <a:clrScheme name="Nutrient">
      <a:dk1>
        <a:srgbClr val="1A1414"/>
      </a:dk1>
      <a:lt1>
        <a:srgbClr val="FFFFFF"/>
      </a:lt1>
      <a:dk2>
        <a:srgbClr val="67594B"/>
      </a:dk2>
      <a:lt2>
        <a:srgbClr val="EFEBE7"/>
      </a:lt2>
      <a:accent1>
        <a:srgbClr val="F25E45"/>
      </a:accent1>
      <a:accent2>
        <a:srgbClr val="DE9DCC"/>
      </a:accent2>
      <a:accent3>
        <a:srgbClr val="6EB579"/>
      </a:accent3>
      <a:accent4>
        <a:srgbClr val="F0C968"/>
      </a:accent4>
      <a:accent5>
        <a:srgbClr val="C2B8AE"/>
      </a:accent5>
      <a:accent6>
        <a:srgbClr val="67594B"/>
      </a:accent6>
      <a:hlink>
        <a:srgbClr val="F25E45"/>
      </a:hlink>
      <a:folHlink>
        <a:srgbClr val="67594B"/>
      </a:folHlink>
    </a:clrScheme>
    <a:fontScheme name="Nutrient">
      <a:majorFont>
        <a:latin typeface="Archivo"/>
        <a:ea typeface=""/>
        <a:cs typeface=""/>
      </a:majorFont>
      <a:minorFont>
        <a:latin typeface="Archivo"/>
        <a:ea typeface=""/>
        <a:cs typeface=""/>
      </a:minorFont>
    </a:fontScheme>
    <a:fmtScheme name="Nutri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Pitch Deck Template</dc:title>
  <dc:creator>Nutrient Office Templating Demo</dc:creator>
</cp:coreProperties>
</file>