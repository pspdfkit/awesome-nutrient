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0" name="Cover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5000" b="1" dirty="0">
                <a:solidFill>
                  <a:srgbClr val="1A1414"/>
                </a:solidFill>
                <a:latin typeface="Archivo"/>
              </a:rPr>
              <a:t>{{project.name}}</a:t>
            </a:r>
          </a:p>
          <a:p>
            <a:pPr algn="l">
              <a:spcBef>
                <a:spcPts val="600"/>
              </a:spcBef>
            </a:pPr>
            <a:r>
              <a:rPr lang="en-US" sz="2000" dirty="0">
                <a:solidFill>
                  <a:srgbClr val="67594B"/>
                </a:solidFill>
                <a:latin typeface="Archivo"/>
              </a:rPr>
              <a:t>Project kick-off</a:t>
            </a:r>
          </a:p>
        </p:txBody>
      </p:sp>
      <p:sp>
        <p:nvSpPr>
          <p:cNvPr id="2619" name="Meta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1A1414"/>
                </a:solidFill>
                <a:latin typeface="Archivo"/>
              </a:rPr>
              <a:t>{{project.client}}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·   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{{project.startDate}} to {{project.endDate}}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WHY WE'RE HERE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{{objectives.headline}}</a:t>
            </a:r>
          </a:p>
        </p:txBody>
      </p:sp>
      <p:sp>
        <p:nvSpPr>
          <p:cNvPr id="4490" name="Objectives"/>
          <p:cNvSpPr txBox="1"/>
          <p:nvPr/>
        </p:nvSpPr>
        <p:spPr>
          <a:xfrm>
            <a:off x="822960" y="2286000"/>
            <a:ext cx="10515600" cy="310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{{#objectives.items}}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F25E45"/>
                </a:solidFill>
                <a:latin typeface="Archivo"/>
              </a:rPr>
              <a:t>•   </a:t>
            </a:r>
            <a:r>
              <a:rPr lang="en-US" sz="1600" dirty="0">
                <a:solidFill>
                  <a:srgbClr val="1A1414"/>
                </a:solidFill>
                <a:latin typeface="Archivo"/>
              </a:rPr>
              <a:t>{{label}}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{{/objectives.items}}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SCOPE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What's in, what's out</a:t>
            </a:r>
          </a:p>
        </p:txBody>
      </p:sp>
      <p:sp>
        <p:nvSpPr>
          <p:cNvPr id="4004" name="In"/>
          <p:cNvSpPr txBox="1"/>
          <p:nvPr/>
        </p:nvSpPr>
        <p:spPr>
          <a:xfrm>
            <a:off x="822960" y="2194560"/>
            <a:ext cx="493776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3C7645"/>
                </a:solidFill>
                <a:latin typeface="Archivo"/>
              </a:rPr>
              <a:t>In scope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{{#scope.inScope}}</a:t>
            </a:r>
          </a:p>
          <a:p>
            <a:pPr algn="l">
              <a:spcBef>
                <a:spcPts val="0"/>
              </a:spcBef>
            </a:pPr>
            <a:r>
              <a:rPr lang="en-US" sz="1500" dirty="0">
                <a:solidFill>
                  <a:srgbClr val="1A1414"/>
                </a:solidFill>
                <a:latin typeface="Archivo"/>
              </a:rPr>
              <a:t>{{label}}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{{/scope.inScope}}</a:t>
            </a:r>
          </a:p>
          <a:p>
            <a:endParaRPr lang="en-US"/>
          </a:p>
        </p:txBody>
      </p:sp>
      <p:sp>
        <p:nvSpPr>
          <p:cNvPr id="1176" name="Out"/>
          <p:cNvSpPr txBox="1"/>
          <p:nvPr/>
        </p:nvSpPr>
        <p:spPr>
          <a:xfrm>
            <a:off x="6035040" y="2194560"/>
            <a:ext cx="493776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F25E45"/>
                </a:solidFill>
                <a:latin typeface="Archivo"/>
              </a:rPr>
              <a:t>Out of scope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{{#scope.outOfScope}}</a:t>
            </a:r>
          </a:p>
          <a:p>
            <a:pPr algn="l">
              <a:spcBef>
                <a:spcPts val="0"/>
              </a:spcBef>
            </a:pPr>
            <a:r>
              <a:rPr lang="en-US" sz="1500" dirty="0">
                <a:solidFill>
                  <a:srgbClr val="1A1414"/>
                </a:solidFill>
                <a:latin typeface="Archivo"/>
              </a:rPr>
              <a:t>{{label}}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{{/scope.outOfScope}}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TEAM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{{team.headline}}</a:t>
            </a:r>
          </a:p>
        </p:txBody>
      </p:sp>
      <p:sp>
        <p:nvSpPr>
          <p:cNvPr id="5082" name="Team"/>
          <p:cNvSpPr txBox="1"/>
          <p:nvPr/>
        </p:nvSpPr>
        <p:spPr>
          <a:xfrm>
            <a:off x="822960" y="2194560"/>
            <a:ext cx="1051560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{{#team.members}}</a:t>
            </a:r>
          </a:p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A1414"/>
                </a:solidFill>
                <a:latin typeface="Archivo"/>
              </a:rPr>
              <a:t>{{name}}</a:t>
            </a:r>
            <a:r>
              <a:rPr lang="en-US" sz="1500" dirty="0">
                <a:solidFill>
                  <a:srgbClr val="F25E45"/>
                </a:solidFill>
                <a:latin typeface="Archivo"/>
              </a:rPr>
              <a:t>     {{role}}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  {{organisation}}</a:t>
            </a:r>
          </a:p>
          <a:p>
            <a:pPr algn="l">
              <a:spcBef>
                <a:spcPts val="0"/>
              </a:spcBef>
            </a:pPr>
            <a:r>
              <a:rPr lang="en-US" sz="1300" dirty="0">
                <a:solidFill>
                  <a:srgbClr val="67594B"/>
                </a:solidFill>
                <a:latin typeface="Archivo"/>
              </a:rPr>
              <a:t>{{responsibility}}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{{/team.members}}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PLAN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{{plan.headline}}</a:t>
            </a:r>
          </a:p>
        </p:txBody>
      </p:sp>
      <p:sp>
        <p:nvSpPr>
          <p:cNvPr id="5218" name="Phases"/>
          <p:cNvSpPr txBox="1"/>
          <p:nvPr/>
        </p:nvSpPr>
        <p:spPr>
          <a:xfrm>
            <a:off x="822960" y="2194560"/>
            <a:ext cx="1051560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{{#plan.phases}}</a:t>
            </a:r>
          </a:p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A1414"/>
                </a:solidFill>
                <a:latin typeface="Archivo"/>
              </a:rPr>
              <a:t>{{phase}}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  {{dates}}</a:t>
            </a:r>
            <a:r>
              <a:rPr lang="en-US" sz="1400" dirty="0">
                <a:solidFill>
                  <a:srgbClr val="F25E45"/>
                </a:solidFill>
                <a:latin typeface="Archivo"/>
              </a:rPr>
              <a:t>     {{milestone}}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{{/plan.phases}}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RISKS AND DEPENDENCIES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{{risks.headline}}</a:t>
            </a:r>
          </a:p>
        </p:txBody>
      </p:sp>
      <p:sp>
        <p:nvSpPr>
          <p:cNvPr id="1650" name="Risks"/>
          <p:cNvSpPr txBox="1"/>
          <p:nvPr/>
        </p:nvSpPr>
        <p:spPr>
          <a:xfrm>
            <a:off x="822960" y="2194560"/>
            <a:ext cx="1051560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{{#risks.items}}</a:t>
            </a:r>
          </a:p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1A1414"/>
                </a:solidFill>
                <a:latin typeface="Archivo"/>
              </a:rPr>
              <a:t>{{risk}}</a:t>
            </a:r>
            <a:r>
              <a:rPr lang="en-US" sz="1300" dirty="0">
                <a:solidFill>
                  <a:srgbClr val="67594B"/>
                </a:solidFill>
                <a:latin typeface="Archivo"/>
              </a:rPr>
              <a:t>     owner {{owner}}</a:t>
            </a:r>
          </a:p>
          <a:p>
            <a:pPr algn="l">
              <a:spcBef>
                <a:spcPts val="0"/>
              </a:spcBef>
            </a:pPr>
            <a:r>
              <a:rPr lang="en-US" sz="1300" dirty="0">
                <a:solidFill>
                  <a:srgbClr val="67594B"/>
                </a:solidFill>
                <a:latin typeface="Archivo"/>
              </a:rPr>
              <a:t>{{mitigation}}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{{/risks.items}}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WAYS OF WORKING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{{cadence.headline}}</a:t>
            </a:r>
          </a:p>
        </p:txBody>
      </p:sp>
      <p:sp>
        <p:nvSpPr>
          <p:cNvPr id="4636" name="Cadence"/>
          <p:cNvSpPr txBox="1"/>
          <p:nvPr/>
        </p:nvSpPr>
        <p:spPr>
          <a:xfrm>
            <a:off x="822960" y="2194560"/>
            <a:ext cx="1051560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{{#cadence.items}}</a:t>
            </a:r>
          </a:p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A1414"/>
                </a:solidFill>
                <a:latin typeface="Archivo"/>
              </a:rPr>
              <a:t>{{ceremony}}</a:t>
            </a:r>
            <a:r>
              <a:rPr lang="en-US" sz="1400" dirty="0">
                <a:solidFill>
                  <a:srgbClr val="F25E45"/>
                </a:solidFill>
                <a:latin typeface="Archivo"/>
              </a:rPr>
              <a:t>     {{frequency}}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  {{participants}}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{{/cadence.items}}</a:t>
            </a:r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utrient">
  <a:themeElements>
    <a:clrScheme name="Nutrient">
      <a:dk1>
        <a:srgbClr val="1A1414"/>
      </a:dk1>
      <a:lt1>
        <a:srgbClr val="FFFFFF"/>
      </a:lt1>
      <a:dk2>
        <a:srgbClr val="67594B"/>
      </a:dk2>
      <a:lt2>
        <a:srgbClr val="EFEBE7"/>
      </a:lt2>
      <a:accent1>
        <a:srgbClr val="F25E45"/>
      </a:accent1>
      <a:accent2>
        <a:srgbClr val="DE9DCC"/>
      </a:accent2>
      <a:accent3>
        <a:srgbClr val="6EB579"/>
      </a:accent3>
      <a:accent4>
        <a:srgbClr val="F0C968"/>
      </a:accent4>
      <a:accent5>
        <a:srgbClr val="C2B8AE"/>
      </a:accent5>
      <a:accent6>
        <a:srgbClr val="67594B"/>
      </a:accent6>
      <a:hlink>
        <a:srgbClr val="F25E45"/>
      </a:hlink>
      <a:folHlink>
        <a:srgbClr val="67594B"/>
      </a:folHlink>
    </a:clrScheme>
    <a:fontScheme name="Nutrient">
      <a:majorFont>
        <a:latin typeface="Archivo"/>
        <a:ea typeface=""/>
        <a:cs typeface=""/>
      </a:majorFont>
      <a:minorFont>
        <a:latin typeface="Archivo"/>
        <a:ea typeface=""/>
        <a:cs typeface=""/>
      </a:minorFont>
    </a:fontScheme>
    <a:fmtScheme name="Nutrie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Project Kick-off Template</dc:title>
  <dc:creator>Nutrient Office Templating Demo</dc:creator>
</cp:coreProperties>
</file>